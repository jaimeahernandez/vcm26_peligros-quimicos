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5" r:id="rId2"/>
    <p:sldId id="346" r:id="rId3"/>
    <p:sldId id="347" r:id="rId4"/>
    <p:sldId id="348" r:id="rId5"/>
    <p:sldId id="349" r:id="rId6"/>
    <p:sldId id="350" r:id="rId7"/>
    <p:sldId id="351" r:id="rId8"/>
    <p:sldId id="352" r:id="rId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8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F039CC-988C-4263-8EA5-C3548D7E7B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2DF1DF7-BABC-4DA5-A601-F072027515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9EF3A9-EBD5-4651-BF05-592CA2E0D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1183E-5F67-40AF-8CF9-8EB04E0DB297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F36680A-F366-4FD4-9F21-3CD6EB4F1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0D9451-C6B5-45C1-AB51-EAAE21E1B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2F47B-9D2F-41E4-9088-4FEEDE0DE2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77159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2BC3E0-A77C-4B97-8898-664C9ED4F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79595A-95A9-4AAE-AC26-39CCC9D26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4934BB-FABE-4EEA-9A33-3E65D367C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1183E-5F67-40AF-8CF9-8EB04E0DB297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712338-0964-4706-870E-14B3FDEF0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F82986-D808-422C-A92C-235EAE417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2F47B-9D2F-41E4-9088-4FEEDE0DE2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6856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59DB34-D31A-4FB1-9DE2-08E43E42F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9572F8-4B45-45AE-8524-FF7EEB7FF6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828234-B05F-4CE8-A517-068109E58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1183E-5F67-40AF-8CF9-8EB04E0DB297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A8ECF7-7E17-4D02-AD7E-B1BE934A1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0E3582-959D-4BA2-A94C-689ABA1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2F47B-9D2F-41E4-9088-4FEEDE0DE2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13311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2FD3C0-C97B-46C4-A12C-8AA9BD41A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6D3F27-D83B-4C00-BE96-0B42887370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5CC90A5-9071-4496-93AF-14476A7989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0F98041-5975-474C-8B1F-B8D3D6B4C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1183E-5F67-40AF-8CF9-8EB04E0DB297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D4C0EAC-A2EB-4B45-9516-B46072321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563B580-DD3B-4A67-AA3D-78FDE8B0F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2F47B-9D2F-41E4-9088-4FEEDE0DE2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8086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F1364B-C7ED-4417-8E5E-41AFE9D53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E80951-75DA-471A-B8A5-49A7D8180C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BB9C28A-7C71-47A7-8153-A2A840F1C8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07793C5-C9D7-4481-8909-324F61EF8E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42478A7-E0A6-404F-B1A7-EAAC1E5E20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9BA5B9D-E2BA-4277-ACFE-9BB2F02C6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1183E-5F67-40AF-8CF9-8EB04E0DB297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1D8876F-0957-4034-822D-481CDB780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D509EAA-649C-454C-B2DC-3EC4EDC11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2F47B-9D2F-41E4-9088-4FEEDE0DE2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56193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8A598F-43E5-4CCD-ADCC-DD5B31A4D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569A46-7322-4C79-9CCE-025F66C71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1183E-5F67-40AF-8CF9-8EB04E0DB297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258D440-AFD6-4F86-AB41-5BB59B8AB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98625DA-DAFC-4162-9152-474392686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2F47B-9D2F-41E4-9088-4FEEDE0DE2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50747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AB3CB86-EBD0-4EEC-A154-787B69F7B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1183E-5F67-40AF-8CF9-8EB04E0DB297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A20489F-A701-4A0C-90A4-B9C4D0D73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364D15E-E53F-47B3-8586-3EDBDB861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2F47B-9D2F-41E4-9088-4FEEDE0DE2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71242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F87A1A-3B21-49BF-A28D-CF2B351D6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551BB2-3467-4209-80A9-C514B0228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0EA6FDE-17A7-4493-8B4E-003FFBEBC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6E01BBC-4AA4-4778-B4A8-05A6E092E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1183E-5F67-40AF-8CF9-8EB04E0DB297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1DB3610-1E8D-410E-BE2A-1A457CC89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62DCB92-BF0E-4A43-AEF7-82E5A508F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2F47B-9D2F-41E4-9088-4FEEDE0DE2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75699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782C6B-CBBC-4E16-9E79-15AFB8426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37E09A1-F1F9-4018-9A35-2B562630DC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D0D1B36-C3F1-445D-99EA-A2A34A953A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57042DF-D421-4AA3-B77B-656C599A9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1183E-5F67-40AF-8CF9-8EB04E0DB297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15089E1-DF64-43A8-8D8D-1119508E0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40AF53A-05F1-4D22-B02E-2200BE12C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2F47B-9D2F-41E4-9088-4FEEDE0DE2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4824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D7BA48-65F8-4D49-8FEB-F22B5EAD0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0928868-D18C-4C04-AEEC-2DACECC7A1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F20EED-BF19-49B3-8941-D8B92184E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1183E-5F67-40AF-8CF9-8EB04E0DB297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726AD4-C6C6-45CE-94C5-EF1BC34CD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3A6467-12EA-4D8F-9475-346E7B9F9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2F47B-9D2F-41E4-9088-4FEEDE0DE2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13793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F58E9CE-BC0A-4736-A2F2-60CAD09B96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955A55F-7730-478C-92FD-A0739C007C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92DBE4-D426-4801-AC0D-C29E41889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1183E-5F67-40AF-8CF9-8EB04E0DB297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1E52BF-2D06-4F03-BD29-F6FFDCD3C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53ABBD-1C2C-49A6-8C78-24C156FA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2F47B-9D2F-41E4-9088-4FEEDE0DE2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95418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3D1F1FC-D5BD-46F9-ADE9-AADA2A320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9A6AFD9-B0F8-4F7E-8196-61EB3C67D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3DCBBC-56BD-46D1-9C8B-17F262062A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1183E-5F67-40AF-8CF9-8EB04E0DB297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1FD52A-7289-42EF-A966-B79AD9C857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3ED5F8-E6C8-4015-ACE8-B98FAB2C04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32F47B-9D2F-41E4-9088-4FEEDE0DE2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07496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0" descr="Guerra electrónica cognitiva, el espectro electromagnético es el campo de  batalla - Aviacionline.com">
            <a:extLst>
              <a:ext uri="{FF2B5EF4-FFF2-40B4-BE49-F238E27FC236}">
                <a16:creationId xmlns:a16="http://schemas.microsoft.com/office/drawing/2014/main" id="{8CB24D6E-13FD-4814-96B2-76D5C04774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/>
          <a:srcRect l="19791" t="19136" r="23125" b="32222"/>
          <a:stretch/>
        </p:blipFill>
        <p:spPr>
          <a:xfrm>
            <a:off x="850900" y="1273676"/>
            <a:ext cx="10795000" cy="5174248"/>
          </a:xfrm>
          <a:prstGeom prst="rect">
            <a:avLst/>
          </a:prstGeom>
        </p:spPr>
      </p:pic>
      <p:sp>
        <p:nvSpPr>
          <p:cNvPr id="9" name="Rectángulo 8"/>
          <p:cNvSpPr/>
          <p:nvPr/>
        </p:nvSpPr>
        <p:spPr>
          <a:xfrm>
            <a:off x="3048000" y="328922"/>
            <a:ext cx="5435600" cy="73866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4200" b="1" dirty="0">
                <a:ln/>
                <a:solidFill>
                  <a:schemeClr val="accent4"/>
                </a:solidFill>
              </a:rPr>
              <a:t>EJERCICIO GRUPAL , AP</a:t>
            </a:r>
            <a:endParaRPr lang="es-ES" sz="4200" b="1" cap="none" spc="0" dirty="0">
              <a:ln/>
              <a:solidFill>
                <a:schemeClr val="accent4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11505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19028" t="18889" r="26944" b="35679"/>
          <a:stretch/>
        </p:blipFill>
        <p:spPr>
          <a:xfrm>
            <a:off x="922866" y="1566333"/>
            <a:ext cx="10158758" cy="4805170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3327400" y="540588"/>
            <a:ext cx="4473702" cy="73866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4200" b="1" dirty="0">
                <a:ln/>
                <a:solidFill>
                  <a:schemeClr val="accent4"/>
                </a:solidFill>
              </a:rPr>
              <a:t>EJERCICIO GRUPAL</a:t>
            </a:r>
            <a:endParaRPr lang="es-ES" sz="4200" b="1" cap="none" spc="0" dirty="0">
              <a:ln/>
              <a:solidFill>
                <a:schemeClr val="accent4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7934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3327400" y="540588"/>
            <a:ext cx="4473702" cy="73866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200" b="1" i="0" u="none" strike="noStrike" kern="0" cap="none" spc="0" normalizeH="0" baseline="0" noProof="0" dirty="0">
                <a:ln/>
                <a:solidFill>
                  <a:schemeClr val="accent4"/>
                </a:solidFill>
                <a:effectLst/>
                <a:uLnTx/>
                <a:uFillTx/>
              </a:rPr>
              <a:t>EJERCICIO GRUPAL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/>
          <a:srcRect l="19167" t="31728" r="31041" b="27284"/>
          <a:stretch/>
        </p:blipFill>
        <p:spPr>
          <a:xfrm>
            <a:off x="1320800" y="1811864"/>
            <a:ext cx="9233894" cy="4275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5017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0" descr="Guerra electrónica cognitiva, el espectro electromagnético es el campo de  batalla - Aviacionline.com">
            <a:extLst>
              <a:ext uri="{FF2B5EF4-FFF2-40B4-BE49-F238E27FC236}">
                <a16:creationId xmlns:a16="http://schemas.microsoft.com/office/drawing/2014/main" id="{8CB24D6E-13FD-4814-96B2-76D5C04774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9" name="Rectángulo 8"/>
          <p:cNvSpPr/>
          <p:nvPr/>
        </p:nvSpPr>
        <p:spPr>
          <a:xfrm>
            <a:off x="3048000" y="328922"/>
            <a:ext cx="5435600" cy="73866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4200" b="1" dirty="0">
                <a:ln/>
                <a:solidFill>
                  <a:schemeClr val="accent4"/>
                </a:solidFill>
              </a:rPr>
              <a:t>TD – E1 MOMENTO 1</a:t>
            </a:r>
            <a:endParaRPr lang="es-ES" sz="4200" b="1" cap="none" spc="0" dirty="0">
              <a:ln/>
              <a:solidFill>
                <a:schemeClr val="accent4"/>
              </a:solidFill>
              <a:effectLst/>
            </a:endParaRPr>
          </a:p>
        </p:txBody>
      </p:sp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742972"/>
              </p:ext>
            </p:extLst>
          </p:nvPr>
        </p:nvGraphicFramePr>
        <p:xfrm>
          <a:off x="800100" y="1295400"/>
          <a:ext cx="10591800" cy="5167747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118360">
                  <a:extLst>
                    <a:ext uri="{9D8B030D-6E8A-4147-A177-3AD203B41FA5}">
                      <a16:colId xmlns:a16="http://schemas.microsoft.com/office/drawing/2014/main" val="1114235107"/>
                    </a:ext>
                  </a:extLst>
                </a:gridCol>
                <a:gridCol w="2118360">
                  <a:extLst>
                    <a:ext uri="{9D8B030D-6E8A-4147-A177-3AD203B41FA5}">
                      <a16:colId xmlns:a16="http://schemas.microsoft.com/office/drawing/2014/main" val="1975718276"/>
                    </a:ext>
                  </a:extLst>
                </a:gridCol>
                <a:gridCol w="2118360">
                  <a:extLst>
                    <a:ext uri="{9D8B030D-6E8A-4147-A177-3AD203B41FA5}">
                      <a16:colId xmlns:a16="http://schemas.microsoft.com/office/drawing/2014/main" val="2269351022"/>
                    </a:ext>
                  </a:extLst>
                </a:gridCol>
                <a:gridCol w="2118360">
                  <a:extLst>
                    <a:ext uri="{9D8B030D-6E8A-4147-A177-3AD203B41FA5}">
                      <a16:colId xmlns:a16="http://schemas.microsoft.com/office/drawing/2014/main" val="262742741"/>
                    </a:ext>
                  </a:extLst>
                </a:gridCol>
                <a:gridCol w="2118360">
                  <a:extLst>
                    <a:ext uri="{9D8B030D-6E8A-4147-A177-3AD203B41FA5}">
                      <a16:colId xmlns:a16="http://schemas.microsoft.com/office/drawing/2014/main" val="3789814991"/>
                    </a:ext>
                  </a:extLst>
                </a:gridCol>
              </a:tblGrid>
              <a:tr h="462491"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/>
                        <a:t>Tipo de agente químico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/>
                        <a:t>Concepto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1"/>
                        <a:t>Ejemplo en entorno laboral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/>
                        <a:t>Simbología SGA (pictograma)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/>
                        <a:t>Hallazgos/Conclusiones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2838747585"/>
                  </a:ext>
                </a:extLst>
              </a:tr>
              <a:tr h="1055604"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+mn-lt"/>
                        </a:rPr>
                        <a:t>Sustancia inflamable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endParaRPr lang="es-CO" sz="1100" dirty="0"/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 algn="just"/>
                      <a:endParaRPr lang="es-CO" sz="1100" dirty="0"/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endParaRPr lang="es-CO" sz="1100" dirty="0"/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endParaRPr lang="es-CO" sz="1100" dirty="0"/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1409953413"/>
                  </a:ext>
                </a:extLst>
              </a:tr>
              <a:tr h="1253530"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+mn-lt"/>
                        </a:rPr>
                        <a:t>Sustancia tóxica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endParaRPr lang="es-CO" sz="1100" dirty="0"/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 algn="ctr"/>
                      <a:endParaRPr lang="es-CO" sz="1100" dirty="0"/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endParaRPr lang="es-CO" sz="1100" dirty="0"/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endParaRPr lang="es-CO" sz="1100" dirty="0"/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2930660965"/>
                  </a:ext>
                </a:extLst>
              </a:tr>
              <a:tr h="857679"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+mn-lt"/>
                        </a:rPr>
                        <a:t>Corrosivo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endParaRPr lang="es-CO" sz="1100" dirty="0"/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 algn="ctr"/>
                      <a:endParaRPr lang="es-CO" sz="1100" dirty="0"/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endParaRPr lang="es-CO" sz="1100" dirty="0"/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endParaRPr lang="es-CO" sz="1100" dirty="0"/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1114627909"/>
                  </a:ext>
                </a:extLst>
              </a:tr>
              <a:tr h="857679"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+mn-lt"/>
                        </a:rPr>
                        <a:t>Comburente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endParaRPr lang="es-CO" sz="1100" dirty="0"/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 algn="ctr"/>
                      <a:endParaRPr lang="es-CO" sz="1100" dirty="0"/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endParaRPr lang="es-CO" sz="1100" dirty="0"/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endParaRPr lang="es-CO" sz="1100" dirty="0"/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4160368309"/>
                  </a:ext>
                </a:extLst>
              </a:tr>
              <a:tr h="660749">
                <a:tc>
                  <a:txBody>
                    <a:bodyPr/>
                    <a:lstStyle/>
                    <a:p>
                      <a:r>
                        <a:rPr lang="es-CO" sz="1400" dirty="0">
                          <a:latin typeface="+mn-lt"/>
                        </a:rPr>
                        <a:t>Gas a presión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endParaRPr lang="es-CO" sz="1100" dirty="0"/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 algn="ctr"/>
                      <a:endParaRPr lang="es-CO" sz="1100" dirty="0"/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endParaRPr lang="es-CO" sz="1100" dirty="0"/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endParaRPr lang="es-CO" sz="1100" dirty="0"/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3321059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5409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0" descr="Guerra electrónica cognitiva, el espectro electromagnético es el campo de  batalla - Aviacionline.com">
            <a:extLst>
              <a:ext uri="{FF2B5EF4-FFF2-40B4-BE49-F238E27FC236}">
                <a16:creationId xmlns:a16="http://schemas.microsoft.com/office/drawing/2014/main" id="{8CB24D6E-13FD-4814-96B2-76D5C04774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9" name="Rectángulo 8"/>
          <p:cNvSpPr/>
          <p:nvPr/>
        </p:nvSpPr>
        <p:spPr>
          <a:xfrm>
            <a:off x="3048000" y="328922"/>
            <a:ext cx="5435600" cy="73866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4200" b="1" dirty="0">
                <a:ln/>
                <a:solidFill>
                  <a:schemeClr val="accent4"/>
                </a:solidFill>
              </a:rPr>
              <a:t>TD – E1 MOMENTO 2</a:t>
            </a:r>
            <a:endParaRPr lang="es-ES" sz="4200" b="1" cap="none" spc="0" dirty="0">
              <a:ln/>
              <a:solidFill>
                <a:schemeClr val="accent4"/>
              </a:solidFill>
              <a:effectLst/>
            </a:endParaRPr>
          </a:p>
        </p:txBody>
      </p:sp>
      <p:pic>
        <p:nvPicPr>
          <p:cNvPr id="2052" name="Picture 4" descr="Mapa Conceptual: qué es, características, elementos y tipos - Enciclopedia  Significad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888" y="1675871"/>
            <a:ext cx="7055607" cy="3811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 2"/>
          <p:cNvSpPr/>
          <p:nvPr/>
        </p:nvSpPr>
        <p:spPr>
          <a:xfrm>
            <a:off x="3752084" y="1765866"/>
            <a:ext cx="16581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>
                <a:solidFill>
                  <a:schemeClr val="bg1"/>
                </a:solidFill>
                <a:latin typeface="Arial" panose="020B0604020202020204" pitchFamily="34" charset="0"/>
              </a:rPr>
              <a:t>Absorción, distribución, metabolismo, eliminación. </a:t>
            </a:r>
            <a:endParaRPr lang="es-CO" b="0" i="0" dirty="0">
              <a:solidFill>
                <a:schemeClr val="bg1"/>
              </a:solidFill>
              <a:effectLst/>
              <a:latin typeface="Roboto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8483600" y="2743200"/>
            <a:ext cx="3056467" cy="1676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800" dirty="0">
                <a:latin typeface="Arial" panose="020B0604020202020204" pitchFamily="34" charset="0"/>
                <a:cs typeface="Arial" panose="020B0604020202020204" pitchFamily="34" charset="0"/>
              </a:rPr>
              <a:t>ANALISIS DE LA INFORMACION</a:t>
            </a:r>
          </a:p>
        </p:txBody>
      </p:sp>
    </p:spTree>
    <p:extLst>
      <p:ext uri="{BB962C8B-B14F-4D97-AF65-F5344CB8AC3E}">
        <p14:creationId xmlns:p14="http://schemas.microsoft.com/office/powerpoint/2010/main" val="1248590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0" descr="Guerra electrónica cognitiva, el espectro electromagnético es el campo de  batalla - Aviacionline.com">
            <a:extLst>
              <a:ext uri="{FF2B5EF4-FFF2-40B4-BE49-F238E27FC236}">
                <a16:creationId xmlns:a16="http://schemas.microsoft.com/office/drawing/2014/main" id="{8CB24D6E-13FD-4814-96B2-76D5C04774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9" name="Rectángulo 8"/>
          <p:cNvSpPr/>
          <p:nvPr/>
        </p:nvSpPr>
        <p:spPr>
          <a:xfrm>
            <a:off x="3048000" y="328922"/>
            <a:ext cx="5435600" cy="73866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4200" b="1" dirty="0">
                <a:ln/>
                <a:solidFill>
                  <a:schemeClr val="accent4"/>
                </a:solidFill>
              </a:rPr>
              <a:t>TD – E1 MOMENTO 2</a:t>
            </a:r>
            <a:endParaRPr lang="es-ES" sz="4200" b="1" cap="none" spc="0" dirty="0">
              <a:ln/>
              <a:solidFill>
                <a:schemeClr val="accent4"/>
              </a:solidFill>
              <a:effectLst/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3870617" y="1604470"/>
            <a:ext cx="16581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>
                <a:solidFill>
                  <a:schemeClr val="bg1"/>
                </a:solidFill>
                <a:latin typeface="Arial" panose="020B0604020202020204" pitchFamily="34" charset="0"/>
              </a:rPr>
              <a:t>Absorción, distribución, metabolismo, eliminación. </a:t>
            </a:r>
            <a:endParaRPr lang="es-CO" b="0" i="0" dirty="0">
              <a:solidFill>
                <a:schemeClr val="bg1"/>
              </a:solidFill>
              <a:effectLst/>
              <a:latin typeface="Roboto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/>
          <a:srcRect l="25000" t="17161" r="27291" b="27407"/>
          <a:stretch/>
        </p:blipFill>
        <p:spPr>
          <a:xfrm>
            <a:off x="1617134" y="1134533"/>
            <a:ext cx="8466666" cy="553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329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0" descr="Guerra electrónica cognitiva, el espectro electromagnético es el campo de  batalla - Aviacionline.com">
            <a:extLst>
              <a:ext uri="{FF2B5EF4-FFF2-40B4-BE49-F238E27FC236}">
                <a16:creationId xmlns:a16="http://schemas.microsoft.com/office/drawing/2014/main" id="{8CB24D6E-13FD-4814-96B2-76D5C04774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9" name="Rectángulo 8"/>
          <p:cNvSpPr/>
          <p:nvPr/>
        </p:nvSpPr>
        <p:spPr>
          <a:xfrm>
            <a:off x="3048000" y="328922"/>
            <a:ext cx="5435600" cy="73866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4200" b="1" dirty="0">
                <a:ln/>
                <a:solidFill>
                  <a:schemeClr val="accent4"/>
                </a:solidFill>
              </a:rPr>
              <a:t>TD – E1 MOMENTO 3</a:t>
            </a:r>
            <a:endParaRPr lang="es-ES" sz="4200" b="1" cap="none" spc="0" dirty="0">
              <a:ln/>
              <a:solidFill>
                <a:schemeClr val="accent4"/>
              </a:solidFill>
              <a:effectLst/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3870617" y="1604470"/>
            <a:ext cx="16581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>
                <a:solidFill>
                  <a:schemeClr val="bg1"/>
                </a:solidFill>
                <a:latin typeface="Arial" panose="020B0604020202020204" pitchFamily="34" charset="0"/>
              </a:rPr>
              <a:t>Absorción, distribución, metabolismo, eliminación. </a:t>
            </a:r>
            <a:endParaRPr lang="es-CO" b="0" i="0" dirty="0">
              <a:solidFill>
                <a:schemeClr val="bg1"/>
              </a:solidFill>
              <a:effectLst/>
              <a:latin typeface="Roboto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18889" t="21852" r="20208" b="32963"/>
          <a:stretch/>
        </p:blipFill>
        <p:spPr>
          <a:xfrm>
            <a:off x="1024466" y="1494366"/>
            <a:ext cx="10001796" cy="4174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69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0" descr="Guerra electrónica cognitiva, el espectro electromagnético es el campo de  batalla - Aviacionline.com">
            <a:extLst>
              <a:ext uri="{FF2B5EF4-FFF2-40B4-BE49-F238E27FC236}">
                <a16:creationId xmlns:a16="http://schemas.microsoft.com/office/drawing/2014/main" id="{8CB24D6E-13FD-4814-96B2-76D5C04774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9" name="Rectángulo 8"/>
          <p:cNvSpPr/>
          <p:nvPr/>
        </p:nvSpPr>
        <p:spPr>
          <a:xfrm>
            <a:off x="1947333" y="320456"/>
            <a:ext cx="7628467" cy="73866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4200" b="1" dirty="0">
                <a:ln/>
                <a:solidFill>
                  <a:schemeClr val="accent4"/>
                </a:solidFill>
              </a:rPr>
              <a:t>TD – E1 ENTREGA DEL INFORME</a:t>
            </a:r>
            <a:endParaRPr lang="es-ES" sz="4200" b="1" cap="none" spc="0" dirty="0">
              <a:ln/>
              <a:solidFill>
                <a:schemeClr val="accent4"/>
              </a:solidFill>
              <a:effectLst/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3870617" y="1604470"/>
            <a:ext cx="16581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>
                <a:solidFill>
                  <a:schemeClr val="bg1"/>
                </a:solidFill>
                <a:latin typeface="Arial" panose="020B0604020202020204" pitchFamily="34" charset="0"/>
              </a:rPr>
              <a:t>Absorción, distribución, metabolismo, eliminación. </a:t>
            </a:r>
            <a:endParaRPr lang="es-CO" b="0" i="0" dirty="0">
              <a:solidFill>
                <a:schemeClr val="bg1"/>
              </a:solidFill>
              <a:effectLst/>
              <a:latin typeface="Roboto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24375" t="14197" r="29236" b="20000"/>
          <a:stretch/>
        </p:blipFill>
        <p:spPr>
          <a:xfrm>
            <a:off x="2302933" y="1059120"/>
            <a:ext cx="7044268" cy="5620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9906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</TotalTime>
  <Words>94</Words>
  <Application>Microsoft Office PowerPoint</Application>
  <PresentationFormat>Panorámica</PresentationFormat>
  <Paragraphs>23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JAIME ALBERTO HERNANDEZ JIMENEZ</dc:creator>
  <cp:lastModifiedBy>JAIME ALBERTO HERNANDEZ JIMENEZ</cp:lastModifiedBy>
  <cp:revision>47</cp:revision>
  <dcterms:created xsi:type="dcterms:W3CDTF">2023-08-03T18:23:35Z</dcterms:created>
  <dcterms:modified xsi:type="dcterms:W3CDTF">2026-02-13T18:23:49Z</dcterms:modified>
</cp:coreProperties>
</file>