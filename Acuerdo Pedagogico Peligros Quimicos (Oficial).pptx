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2" r:id="rId2"/>
    <p:sldId id="354" r:id="rId3"/>
    <p:sldId id="329" r:id="rId4"/>
    <p:sldId id="334" r:id="rId5"/>
    <p:sldId id="330" r:id="rId6"/>
    <p:sldId id="331" r:id="rId7"/>
    <p:sldId id="333" r:id="rId8"/>
    <p:sldId id="257" r:id="rId9"/>
    <p:sldId id="277" r:id="rId10"/>
    <p:sldId id="291" r:id="rId11"/>
    <p:sldId id="290" r:id="rId12"/>
    <p:sldId id="293" r:id="rId13"/>
    <p:sldId id="292" r:id="rId14"/>
    <p:sldId id="258" r:id="rId15"/>
    <p:sldId id="294" r:id="rId16"/>
    <p:sldId id="295" r:id="rId17"/>
    <p:sldId id="335" r:id="rId18"/>
    <p:sldId id="296" r:id="rId19"/>
    <p:sldId id="336" r:id="rId20"/>
    <p:sldId id="337" r:id="rId21"/>
    <p:sldId id="339" r:id="rId22"/>
    <p:sldId id="338" r:id="rId23"/>
    <p:sldId id="340" r:id="rId24"/>
    <p:sldId id="298" r:id="rId25"/>
    <p:sldId id="299" r:id="rId26"/>
    <p:sldId id="341" r:id="rId27"/>
    <p:sldId id="311" r:id="rId28"/>
    <p:sldId id="342" r:id="rId29"/>
    <p:sldId id="312" r:id="rId30"/>
    <p:sldId id="301" r:id="rId31"/>
    <p:sldId id="343" r:id="rId32"/>
    <p:sldId id="302" r:id="rId33"/>
    <p:sldId id="305" r:id="rId34"/>
    <p:sldId id="304" r:id="rId35"/>
    <p:sldId id="306" r:id="rId36"/>
    <p:sldId id="307" r:id="rId37"/>
    <p:sldId id="308" r:id="rId38"/>
    <p:sldId id="344" r:id="rId39"/>
    <p:sldId id="345" r:id="rId40"/>
    <p:sldId id="346" r:id="rId41"/>
    <p:sldId id="347" r:id="rId42"/>
    <p:sldId id="309" r:id="rId43"/>
    <p:sldId id="313" r:id="rId44"/>
    <p:sldId id="348" r:id="rId45"/>
    <p:sldId id="349" r:id="rId46"/>
    <p:sldId id="350" r:id="rId47"/>
    <p:sldId id="351" r:id="rId48"/>
    <p:sldId id="352" r:id="rId49"/>
    <p:sldId id="259" r:id="rId50"/>
    <p:sldId id="260" r:id="rId51"/>
    <p:sldId id="262" r:id="rId52"/>
    <p:sldId id="261" r:id="rId53"/>
    <p:sldId id="315" r:id="rId54"/>
    <p:sldId id="289" r:id="rId55"/>
    <p:sldId id="263" r:id="rId56"/>
    <p:sldId id="265" r:id="rId57"/>
    <p:sldId id="271" r:id="rId58"/>
    <p:sldId id="323" r:id="rId59"/>
    <p:sldId id="324" r:id="rId60"/>
    <p:sldId id="325" r:id="rId6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ndación Benjamin Franklin" userId="d46b269fb5ac01ef" providerId="LiveId" clId="{A9E1B4DC-FB0B-4782-9C6A-8173F66EE838}"/>
    <pc:docChg chg="custSel delSld modSld">
      <pc:chgData name="Fundación Benjamin Franklin" userId="d46b269fb5ac01ef" providerId="LiveId" clId="{A9E1B4DC-FB0B-4782-9C6A-8173F66EE838}" dt="2026-02-06T20:53:41.789" v="19" actId="47"/>
      <pc:docMkLst>
        <pc:docMk/>
      </pc:docMkLst>
      <pc:sldChg chg="addSp delSp modSp mod">
        <pc:chgData name="Fundación Benjamin Franklin" userId="d46b269fb5ac01ef" providerId="LiveId" clId="{A9E1B4DC-FB0B-4782-9C6A-8173F66EE838}" dt="2026-02-06T20:36:08.665" v="17" actId="14100"/>
        <pc:sldMkLst>
          <pc:docMk/>
          <pc:sldMk cId="2956626550" sldId="271"/>
        </pc:sldMkLst>
        <pc:spChg chg="mod ord">
          <ac:chgData name="Fundación Benjamin Franklin" userId="d46b269fb5ac01ef" providerId="LiveId" clId="{A9E1B4DC-FB0B-4782-9C6A-8173F66EE838}" dt="2026-02-06T20:36:08.665" v="17" actId="14100"/>
          <ac:spMkLst>
            <pc:docMk/>
            <pc:sldMk cId="2956626550" sldId="271"/>
            <ac:spMk id="5" creationId="{00000000-0000-0000-0000-000000000000}"/>
          </ac:spMkLst>
        </pc:spChg>
        <pc:picChg chg="del">
          <ac:chgData name="Fundación Benjamin Franklin" userId="d46b269fb5ac01ef" providerId="LiveId" clId="{A9E1B4DC-FB0B-4782-9C6A-8173F66EE838}" dt="2026-02-06T20:29:49.419" v="9" actId="478"/>
          <ac:picMkLst>
            <pc:docMk/>
            <pc:sldMk cId="2956626550" sldId="271"/>
            <ac:picMk id="2" creationId="{00000000-0000-0000-0000-000000000000}"/>
          </ac:picMkLst>
        </pc:picChg>
        <pc:picChg chg="add mod ord">
          <ac:chgData name="Fundación Benjamin Franklin" userId="d46b269fb5ac01ef" providerId="LiveId" clId="{A9E1B4DC-FB0B-4782-9C6A-8173F66EE838}" dt="2026-02-06T20:36:02.306" v="16" actId="14100"/>
          <ac:picMkLst>
            <pc:docMk/>
            <pc:sldMk cId="2956626550" sldId="271"/>
            <ac:picMk id="6" creationId="{7B3EDD54-09F9-5EF0-C535-76A8CADE9D8D}"/>
          </ac:picMkLst>
        </pc:picChg>
      </pc:sldChg>
      <pc:sldChg chg="del">
        <pc:chgData name="Fundación Benjamin Franklin" userId="d46b269fb5ac01ef" providerId="LiveId" clId="{A9E1B4DC-FB0B-4782-9C6A-8173F66EE838}" dt="2026-02-06T20:53:41.789" v="19" actId="47"/>
        <pc:sldMkLst>
          <pc:docMk/>
          <pc:sldMk cId="1467352325" sldId="300"/>
        </pc:sldMkLst>
      </pc:sldChg>
      <pc:sldChg chg="del">
        <pc:chgData name="Fundación Benjamin Franklin" userId="d46b269fb5ac01ef" providerId="LiveId" clId="{A9E1B4DC-FB0B-4782-9C6A-8173F66EE838}" dt="2026-02-06T20:53:25.515" v="18" actId="47"/>
        <pc:sldMkLst>
          <pc:docMk/>
          <pc:sldMk cId="2184617422" sldId="303"/>
        </pc:sldMkLst>
      </pc:sldChg>
      <pc:sldChg chg="modSp mod">
        <pc:chgData name="Fundación Benjamin Franklin" userId="d46b269fb5ac01ef" providerId="LiveId" clId="{A9E1B4DC-FB0B-4782-9C6A-8173F66EE838}" dt="2026-02-06T20:25:01.768" v="8" actId="14100"/>
        <pc:sldMkLst>
          <pc:docMk/>
          <pc:sldMk cId="28281305" sldId="315"/>
        </pc:sldMkLst>
        <pc:spChg chg="mod">
          <ac:chgData name="Fundación Benjamin Franklin" userId="d46b269fb5ac01ef" providerId="LiveId" clId="{A9E1B4DC-FB0B-4782-9C6A-8173F66EE838}" dt="2026-02-06T20:25:01.768" v="8" actId="14100"/>
          <ac:spMkLst>
            <pc:docMk/>
            <pc:sldMk cId="28281305" sldId="315"/>
            <ac:spMk id="5" creationId="{00000000-0000-0000-0000-000000000000}"/>
          </ac:spMkLst>
        </pc:spChg>
      </pc:sldChg>
      <pc:sldChg chg="del">
        <pc:chgData name="Fundación Benjamin Franklin" userId="d46b269fb5ac01ef" providerId="LiveId" clId="{A9E1B4DC-FB0B-4782-9C6A-8173F66EE838}" dt="2026-02-06T20:24:16.134" v="0" actId="47"/>
        <pc:sldMkLst>
          <pc:docMk/>
          <pc:sldMk cId="2839599107" sldId="316"/>
        </pc:sldMkLst>
      </pc:sldChg>
      <pc:sldChg chg="del">
        <pc:chgData name="Fundación Benjamin Franklin" userId="d46b269fb5ac01ef" providerId="LiveId" clId="{A9E1B4DC-FB0B-4782-9C6A-8173F66EE838}" dt="2026-02-06T20:24:17.894" v="1" actId="47"/>
        <pc:sldMkLst>
          <pc:docMk/>
          <pc:sldMk cId="3205438792" sldId="317"/>
        </pc:sldMkLst>
      </pc:sldChg>
      <pc:sldChg chg="del">
        <pc:chgData name="Fundación Benjamin Franklin" userId="d46b269fb5ac01ef" providerId="LiveId" clId="{A9E1B4DC-FB0B-4782-9C6A-8173F66EE838}" dt="2026-02-06T20:24:19.397" v="2" actId="47"/>
        <pc:sldMkLst>
          <pc:docMk/>
          <pc:sldMk cId="347431069" sldId="318"/>
        </pc:sldMkLst>
      </pc:sldChg>
      <pc:sldChg chg="del">
        <pc:chgData name="Fundación Benjamin Franklin" userId="d46b269fb5ac01ef" providerId="LiveId" clId="{A9E1B4DC-FB0B-4782-9C6A-8173F66EE838}" dt="2026-02-06T20:24:20.807" v="3" actId="47"/>
        <pc:sldMkLst>
          <pc:docMk/>
          <pc:sldMk cId="2485629926" sldId="319"/>
        </pc:sldMkLst>
      </pc:sldChg>
      <pc:sldChg chg="del">
        <pc:chgData name="Fundación Benjamin Franklin" userId="d46b269fb5ac01ef" providerId="LiveId" clId="{A9E1B4DC-FB0B-4782-9C6A-8173F66EE838}" dt="2026-02-06T20:24:22.483" v="4" actId="47"/>
        <pc:sldMkLst>
          <pc:docMk/>
          <pc:sldMk cId="2882594984" sldId="320"/>
        </pc:sldMkLst>
      </pc:sldChg>
      <pc:sldChg chg="del">
        <pc:chgData name="Fundación Benjamin Franklin" userId="d46b269fb5ac01ef" providerId="LiveId" clId="{A9E1B4DC-FB0B-4782-9C6A-8173F66EE838}" dt="2026-02-06T20:24:24.745" v="5" actId="47"/>
        <pc:sldMkLst>
          <pc:docMk/>
          <pc:sldMk cId="1295145402" sldId="321"/>
        </pc:sldMkLst>
      </pc:sldChg>
      <pc:sldChg chg="del">
        <pc:chgData name="Fundación Benjamin Franklin" userId="d46b269fb5ac01ef" providerId="LiveId" clId="{A9E1B4DC-FB0B-4782-9C6A-8173F66EE838}" dt="2026-02-06T20:24:26.150" v="6" actId="47"/>
        <pc:sldMkLst>
          <pc:docMk/>
          <pc:sldMk cId="2328313266" sldId="322"/>
        </pc:sldMkLst>
      </pc:sldChg>
      <pc:sldChg chg="del">
        <pc:chgData name="Fundación Benjamin Franklin" userId="d46b269fb5ac01ef" providerId="LiveId" clId="{A9E1B4DC-FB0B-4782-9C6A-8173F66EE838}" dt="2026-02-06T20:24:28.255" v="7" actId="47"/>
        <pc:sldMkLst>
          <pc:docMk/>
          <pc:sldMk cId="3398572485" sldId="35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039CC-988C-4263-8EA5-C3548D7E7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DF1DF7-BABC-4DA5-A601-F07202751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9EF3A9-EBD5-4651-BF05-592CA2E0D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36680A-F366-4FD4-9F21-3CD6EB4F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0D9451-C6B5-45C1-AB51-EAAE21E1B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7159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BC3E0-A77C-4B97-8898-664C9ED4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79595A-95A9-4AAE-AC26-39CCC9D26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4934BB-FABE-4EEA-9A33-3E65D367C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712338-0964-4706-870E-14B3FDEF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F82986-D808-422C-A92C-235EAE41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685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9DB34-D31A-4FB1-9DE2-08E43E42F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9572F8-4B45-45AE-8524-FF7EEB7FF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828234-B05F-4CE8-A517-068109E58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A8ECF7-7E17-4D02-AD7E-B1BE934A1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0E3582-959D-4BA2-A94C-689ABA1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3311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FD3C0-C97B-46C4-A12C-8AA9BD41A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6D3F27-D83B-4C00-BE96-0B4288737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CC90A5-9071-4496-93AF-14476A798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F98041-5975-474C-8B1F-B8D3D6B4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4C0EAC-A2EB-4B45-9516-B4607232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63B580-DD3B-4A67-AA3D-78FDE8B0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86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1364B-C7ED-4417-8E5E-41AFE9D53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E80951-75DA-471A-B8A5-49A7D8180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B9C28A-7C71-47A7-8153-A2A840F1C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7793C5-C9D7-4481-8909-324F61EF8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2478A7-E0A6-404F-B1A7-EAAC1E5E2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9BA5B9D-E2BA-4277-ACFE-9BB2F02C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1D8876F-0957-4034-822D-481CDB780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D509EAA-649C-454C-B2DC-3EC4EDC1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619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A598F-43E5-4CCD-ADCC-DD5B31A4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569A46-7322-4C79-9CCE-025F66C71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58D440-AFD6-4F86-AB41-5BB59B8A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98625DA-DAFC-4162-9152-47439268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074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B3CB86-EBD0-4EEC-A154-787B69F7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20489F-A701-4A0C-90A4-B9C4D0D7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64D15E-E53F-47B3-8586-3EDBDB86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24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87A1A-3B21-49BF-A28D-CF2B351D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551BB2-3467-4209-80A9-C514B0228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EA6FDE-17A7-4493-8B4E-003FFBEBC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E01BBC-4AA4-4778-B4A8-05A6E092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DB3610-1E8D-410E-BE2A-1A457CC8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2DCB92-BF0E-4A43-AEF7-82E5A508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569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82C6B-CBBC-4E16-9E79-15AFB842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37E09A1-F1F9-4018-9A35-2B562630D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0D1B36-C3F1-445D-99EA-A2A34A953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7042DF-D421-4AA3-B77B-656C599A9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5089E1-DF64-43A8-8D8D-1119508E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0AF53A-05F1-4D22-B02E-2200BE12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2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7BA48-65F8-4D49-8FEB-F22B5EAD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0928868-D18C-4C04-AEEC-2DACECC7A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F20EED-BF19-49B3-8941-D8B92184E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726AD4-C6C6-45CE-94C5-EF1BC34CD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3A6467-12EA-4D8F-9475-346E7B9F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3793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58E9CE-BC0A-4736-A2F2-60CAD09B9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55A55F-7730-478C-92FD-A0739C007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92DBE4-D426-4801-AC0D-C29E4188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1E52BF-2D06-4F03-BD29-F6FFDCD3C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3ABBD-1C2C-49A6-8C78-24C156FA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541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3D1F1FC-D5BD-46F9-ADE9-AADA2A320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A6AFD9-B0F8-4F7E-8196-61EB3C67D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DCBBC-56BD-46D1-9C8B-17F262062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1183E-5F67-40AF-8CF9-8EB04E0DB297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1FD52A-7289-42EF-A966-B79AD9C85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3ED5F8-E6C8-4015-ACE8-B98FAB2C0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749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131733" y="320020"/>
            <a:ext cx="421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Peligros Químicos</a:t>
            </a:r>
          </a:p>
        </p:txBody>
      </p:sp>
      <p:sp>
        <p:nvSpPr>
          <p:cNvPr id="6" name="Rectángulo 5"/>
          <p:cNvSpPr/>
          <p:nvPr/>
        </p:nvSpPr>
        <p:spPr>
          <a:xfrm>
            <a:off x="5266267" y="1690688"/>
            <a:ext cx="5706533" cy="22632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27652" t="26073" r="31221" b="56359"/>
          <a:stretch/>
        </p:blipFill>
        <p:spPr>
          <a:xfrm>
            <a:off x="5596465" y="2502694"/>
            <a:ext cx="5376335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" y="-76200"/>
            <a:ext cx="12192000" cy="68580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131733" y="320020"/>
            <a:ext cx="421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Peligros Químicos</a:t>
            </a:r>
          </a:p>
        </p:txBody>
      </p:sp>
      <p:sp>
        <p:nvSpPr>
          <p:cNvPr id="6" name="Rectángulo 5"/>
          <p:cNvSpPr/>
          <p:nvPr/>
        </p:nvSpPr>
        <p:spPr>
          <a:xfrm>
            <a:off x="5266267" y="1690688"/>
            <a:ext cx="5706533" cy="22632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/>
          <p:cNvSpPr/>
          <p:nvPr/>
        </p:nvSpPr>
        <p:spPr>
          <a:xfrm>
            <a:off x="5266267" y="1735793"/>
            <a:ext cx="5969000" cy="29260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b="1" dirty="0"/>
              <a:t>HOY VEREMOS …</a:t>
            </a:r>
          </a:p>
          <a:p>
            <a:endParaRPr lang="es-CO" sz="3200" b="1" dirty="0"/>
          </a:p>
          <a:p>
            <a:pPr marL="514350" indent="-514350">
              <a:buAutoNum type="arabicPeriod"/>
            </a:pPr>
            <a:r>
              <a:rPr lang="es-CO" sz="3200" b="1" dirty="0"/>
              <a:t>Introducción al curso</a:t>
            </a:r>
          </a:p>
          <a:p>
            <a:pPr marL="514350" indent="-514350">
              <a:buAutoNum type="arabicPeriod"/>
            </a:pPr>
            <a:r>
              <a:rPr lang="es-CO" sz="3200" b="1" dirty="0"/>
              <a:t>Acuerdo pedagógico</a:t>
            </a:r>
          </a:p>
          <a:p>
            <a:pPr marL="514350" indent="-514350">
              <a:buAutoNum type="arabicPeriod"/>
            </a:pPr>
            <a:r>
              <a:rPr lang="es-CO" sz="3200" b="1" dirty="0"/>
              <a:t>Trabajo Grupal</a:t>
            </a:r>
          </a:p>
        </p:txBody>
      </p:sp>
    </p:spTree>
    <p:extLst>
      <p:ext uri="{BB962C8B-B14F-4D97-AF65-F5344CB8AC3E}">
        <p14:creationId xmlns:p14="http://schemas.microsoft.com/office/powerpoint/2010/main" val="369412497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131733" y="320020"/>
            <a:ext cx="421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/>
              <a:t>Peligros Químicos</a:t>
            </a:r>
          </a:p>
        </p:txBody>
      </p:sp>
    </p:spTree>
    <p:extLst>
      <p:ext uri="{BB962C8B-B14F-4D97-AF65-F5344CB8AC3E}">
        <p14:creationId xmlns:p14="http://schemas.microsoft.com/office/powerpoint/2010/main" val="56975283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131733" y="320020"/>
            <a:ext cx="421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/>
              <a:t>Peligros Químicos</a:t>
            </a:r>
          </a:p>
        </p:txBody>
      </p:sp>
    </p:spTree>
    <p:extLst>
      <p:ext uri="{BB962C8B-B14F-4D97-AF65-F5344CB8AC3E}">
        <p14:creationId xmlns:p14="http://schemas.microsoft.com/office/powerpoint/2010/main" val="399169951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131733" y="320020"/>
            <a:ext cx="421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/>
              <a:t>Peligros Químicos</a:t>
            </a:r>
          </a:p>
        </p:txBody>
      </p:sp>
      <p:sp>
        <p:nvSpPr>
          <p:cNvPr id="6" name="Rectángulo 5"/>
          <p:cNvSpPr/>
          <p:nvPr/>
        </p:nvSpPr>
        <p:spPr>
          <a:xfrm>
            <a:off x="6096000" y="3225799"/>
            <a:ext cx="4318000" cy="1642534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262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" descr="Guerra electrónica cognitiva, el espectro electromagnético es el campo de  batalla - Aviacionline.com">
            <a:extLst>
              <a:ext uri="{FF2B5EF4-FFF2-40B4-BE49-F238E27FC236}">
                <a16:creationId xmlns:a16="http://schemas.microsoft.com/office/drawing/2014/main" id="{8CB24D6E-13FD-4814-96B2-76D5C0477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8198" name="Picture 6" descr="Industrial Hygiene: Definition and Importance | SafetyCulture">
            <a:extLst>
              <a:ext uri="{FF2B5EF4-FFF2-40B4-BE49-F238E27FC236}">
                <a16:creationId xmlns:a16="http://schemas.microsoft.com/office/drawing/2014/main" id="{3A4F087A-7F32-40E4-8E5D-FC238DADB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702" y="0"/>
            <a:ext cx="77152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Question Mark PNG Symbols Free Download - Free Transparent PNG Logos">
            <a:extLst>
              <a:ext uri="{FF2B5EF4-FFF2-40B4-BE49-F238E27FC236}">
                <a16:creationId xmlns:a16="http://schemas.microsoft.com/office/drawing/2014/main" id="{857BB8CA-528A-4B47-93BA-E4EBF2570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46" y="1778153"/>
            <a:ext cx="3851009" cy="261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510E9B8-9BF1-403A-8801-46ABA8F94442}"/>
              </a:ext>
            </a:extLst>
          </p:cNvPr>
          <p:cNvSpPr/>
          <p:nvPr/>
        </p:nvSpPr>
        <p:spPr>
          <a:xfrm>
            <a:off x="0" y="4655388"/>
            <a:ext cx="4473702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200" b="1" dirty="0">
                <a:ln/>
                <a:solidFill>
                  <a:schemeClr val="accent4"/>
                </a:solidFill>
              </a:rPr>
              <a:t>Modelo de gestión</a:t>
            </a:r>
            <a:endParaRPr lang="es-ES" sz="42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1676625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" descr="Guerra electrónica cognitiva, el espectro electromagnético es el campo de  batalla - Aviacionline.com">
            <a:extLst>
              <a:ext uri="{FF2B5EF4-FFF2-40B4-BE49-F238E27FC236}">
                <a16:creationId xmlns:a16="http://schemas.microsoft.com/office/drawing/2014/main" id="{8CB24D6E-13FD-4814-96B2-76D5C0477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8198" name="Picture 6" descr="Industrial Hygiene: Definition and Importance | SafetyCulture">
            <a:extLst>
              <a:ext uri="{FF2B5EF4-FFF2-40B4-BE49-F238E27FC236}">
                <a16:creationId xmlns:a16="http://schemas.microsoft.com/office/drawing/2014/main" id="{3A4F087A-7F32-40E4-8E5D-FC238DADB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702" y="0"/>
            <a:ext cx="77152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Question Mark PNG Symbols Free Download - Free Transparent PNG Logos">
            <a:extLst>
              <a:ext uri="{FF2B5EF4-FFF2-40B4-BE49-F238E27FC236}">
                <a16:creationId xmlns:a16="http://schemas.microsoft.com/office/drawing/2014/main" id="{857BB8CA-528A-4B47-93BA-E4EBF2570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46" y="1778153"/>
            <a:ext cx="3851009" cy="261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510E9B8-9BF1-403A-8801-46ABA8F94442}"/>
              </a:ext>
            </a:extLst>
          </p:cNvPr>
          <p:cNvSpPr/>
          <p:nvPr/>
        </p:nvSpPr>
        <p:spPr>
          <a:xfrm>
            <a:off x="0" y="4394200"/>
            <a:ext cx="4473702" cy="198515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100" b="1" dirty="0">
                <a:ln/>
                <a:solidFill>
                  <a:schemeClr val="accent4"/>
                </a:solidFill>
              </a:rPr>
              <a:t>Donde se proponen las medidas de intervención? </a:t>
            </a:r>
            <a:endParaRPr lang="es-ES" sz="41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7559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12839" y="2942980"/>
            <a:ext cx="1345249" cy="101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20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D4640-5E8C-487F-ABF7-0028DBC07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26F5AE-03DA-4F34-93F6-A7ED64BFA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6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48506" y="2104780"/>
            <a:ext cx="1345249" cy="101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65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9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30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597439" y="1520580"/>
            <a:ext cx="1345249" cy="101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62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4F669-EDF8-4303-B1EB-53B663E1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9E32A2-0005-413B-8531-0EF6A89BD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8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943639" y="809380"/>
            <a:ext cx="1345249" cy="101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92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7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t="3951" r="31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974372"/>
      </p:ext>
    </p:extLst>
  </p:cSld>
  <p:clrMapOvr>
    <a:masterClrMapping/>
  </p:clrMapOvr>
  <p:transition spd="med">
    <p:pull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t="3951" r="31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471506" y="4504266"/>
            <a:ext cx="9115213" cy="1774613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514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t="3951" r="31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498599" y="4512733"/>
            <a:ext cx="2311401" cy="1664230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032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3827" r="326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3827" r="326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644227" y="2777066"/>
            <a:ext cx="8718974" cy="4080934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01392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3827" r="326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701799" y="2777066"/>
            <a:ext cx="2175933" cy="2133601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6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50029" y="2730705"/>
            <a:ext cx="718186" cy="54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7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05994" y="3361526"/>
            <a:ext cx="729774" cy="54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5867400" y="3998118"/>
            <a:ext cx="1871134" cy="624682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92605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3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058334" y="1507174"/>
            <a:ext cx="2358813" cy="1148080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Question Mark PNG para descargar grat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1" y="1560673"/>
            <a:ext cx="956733" cy="95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61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3615268" y="1457167"/>
            <a:ext cx="2358813" cy="1148080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Picture 2" descr="Question Mark PNG para descargar grat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2" y="297763"/>
            <a:ext cx="956733" cy="95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31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6265335" y="1481773"/>
            <a:ext cx="2358813" cy="1148080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Picture 2" descr="Question Mark PNG para descargar grat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2" y="322369"/>
            <a:ext cx="956733" cy="95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44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7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642533" y="2280919"/>
            <a:ext cx="9118600" cy="2816013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3859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2472268" y="2641706"/>
            <a:ext cx="2358813" cy="1148080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Picture 2" descr="Question Mark PNG para descargar grat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869" y="2737379"/>
            <a:ext cx="956733" cy="95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26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495194" y="3361526"/>
            <a:ext cx="729774" cy="54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7955556" y="4001295"/>
            <a:ext cx="1789577" cy="646906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895876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408660" y="3361526"/>
            <a:ext cx="729774" cy="54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9935202" y="3984360"/>
            <a:ext cx="1789577" cy="646906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1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6138334" y="4555066"/>
            <a:ext cx="4631266" cy="558799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737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2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96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5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" descr="Guerra electrónica cognitiva, el espectro electromagnético es el campo de  batalla - Aviacionline.com">
            <a:extLst>
              <a:ext uri="{FF2B5EF4-FFF2-40B4-BE49-F238E27FC236}">
                <a16:creationId xmlns:a16="http://schemas.microsoft.com/office/drawing/2014/main" id="{8CB24D6E-13FD-4814-96B2-76D5C0477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8198" name="Picture 6" descr="Industrial Hygiene: Definition and Importance | SafetyCulture">
            <a:extLst>
              <a:ext uri="{FF2B5EF4-FFF2-40B4-BE49-F238E27FC236}">
                <a16:creationId xmlns:a16="http://schemas.microsoft.com/office/drawing/2014/main" id="{3A4F087A-7F32-40E4-8E5D-FC238DADB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702" y="0"/>
            <a:ext cx="77152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Question Mark PNG Symbols Free Download - Free Transparent PNG Logos">
            <a:extLst>
              <a:ext uri="{FF2B5EF4-FFF2-40B4-BE49-F238E27FC236}">
                <a16:creationId xmlns:a16="http://schemas.microsoft.com/office/drawing/2014/main" id="{857BB8CA-528A-4B47-93BA-E4EBF2570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46" y="1778153"/>
            <a:ext cx="3851009" cy="261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510E9B8-9BF1-403A-8801-46ABA8F94442}"/>
              </a:ext>
            </a:extLst>
          </p:cNvPr>
          <p:cNvSpPr/>
          <p:nvPr/>
        </p:nvSpPr>
        <p:spPr>
          <a:xfrm>
            <a:off x="0" y="4655388"/>
            <a:ext cx="4473702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200" b="1" dirty="0">
                <a:ln/>
                <a:solidFill>
                  <a:schemeClr val="accent4"/>
                </a:solidFill>
              </a:rPr>
              <a:t>EJERCICIO GRUPAL</a:t>
            </a:r>
            <a:endParaRPr lang="es-ES" sz="42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1151346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" descr="Guerra electrónica cognitiva, el espectro electromagnético es el campo de  batalla - Aviacionline.com">
            <a:extLst>
              <a:ext uri="{FF2B5EF4-FFF2-40B4-BE49-F238E27FC236}">
                <a16:creationId xmlns:a16="http://schemas.microsoft.com/office/drawing/2014/main" id="{8CB24D6E-13FD-4814-96B2-76D5C0477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19791" t="19136" r="23125" b="32222"/>
          <a:stretch/>
        </p:blipFill>
        <p:spPr>
          <a:xfrm>
            <a:off x="850900" y="1273676"/>
            <a:ext cx="10795000" cy="5174248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234267" y="269655"/>
            <a:ext cx="4473702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200" b="1" dirty="0">
                <a:ln/>
                <a:solidFill>
                  <a:schemeClr val="accent4"/>
                </a:solidFill>
              </a:rPr>
              <a:t>EJERCICIO GRUPAL</a:t>
            </a:r>
            <a:endParaRPr lang="es-ES" sz="42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15058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9028" t="18889" r="26944" b="35679"/>
          <a:stretch/>
        </p:blipFill>
        <p:spPr>
          <a:xfrm>
            <a:off x="922866" y="1566333"/>
            <a:ext cx="10158758" cy="480517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3327400" y="540588"/>
            <a:ext cx="4473702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200" b="1" dirty="0">
                <a:ln/>
                <a:solidFill>
                  <a:schemeClr val="accent4"/>
                </a:solidFill>
              </a:rPr>
              <a:t>EJERCICIO GRUPAL</a:t>
            </a:r>
            <a:endParaRPr lang="es-ES" sz="42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934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3327400" y="540588"/>
            <a:ext cx="4473702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200" b="1" i="0" u="none" strike="noStrike" kern="0" cap="none" spc="0" normalizeH="0" baseline="0" noProof="0" dirty="0">
                <a:ln/>
                <a:solidFill>
                  <a:schemeClr val="accent4"/>
                </a:solidFill>
                <a:effectLst/>
                <a:uLnTx/>
                <a:uFillTx/>
              </a:rPr>
              <a:t>EJERCICIO GRUPAL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9167" t="31728" r="31041" b="27284"/>
          <a:stretch/>
        </p:blipFill>
        <p:spPr>
          <a:xfrm>
            <a:off x="1320800" y="1811864"/>
            <a:ext cx="9233894" cy="42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01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412394" y="5512826"/>
            <a:ext cx="729774" cy="54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5899426" y="4767447"/>
            <a:ext cx="1789577" cy="646906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393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988128" y="5389078"/>
            <a:ext cx="729774" cy="54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6678359" y="4439759"/>
            <a:ext cx="2169308" cy="775707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988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7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988128" y="5389078"/>
            <a:ext cx="729774" cy="54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6678359" y="4439759"/>
            <a:ext cx="2169308" cy="775707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073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4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100+] Right Arrow Png Images | Wallpaper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988128" y="5389078"/>
            <a:ext cx="729774" cy="54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6678359" y="4439759"/>
            <a:ext cx="2169308" cy="775707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609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8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4EC2256-30FC-431A-BC22-FB3843F5587F}"/>
              </a:ext>
            </a:extLst>
          </p:cNvPr>
          <p:cNvSpPr/>
          <p:nvPr/>
        </p:nvSpPr>
        <p:spPr>
          <a:xfrm>
            <a:off x="2954584" y="1808773"/>
            <a:ext cx="63913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Acuerdo Pedagógico…</a:t>
            </a:r>
          </a:p>
        </p:txBody>
      </p:sp>
      <p:pic>
        <p:nvPicPr>
          <p:cNvPr id="1028" name="Picture 4" descr="إعلان هام بخصوص موقع الكلية">
            <a:extLst>
              <a:ext uri="{FF2B5EF4-FFF2-40B4-BE49-F238E27FC236}">
                <a16:creationId xmlns:a16="http://schemas.microsoft.com/office/drawing/2014/main" id="{072CE67E-BB80-4745-974F-A8499D322B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9" b="6169"/>
          <a:stretch/>
        </p:blipFill>
        <p:spPr bwMode="auto">
          <a:xfrm>
            <a:off x="3752977" y="2926837"/>
            <a:ext cx="4438907" cy="253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618205"/>
      </p:ext>
    </p:extLst>
  </p:cSld>
  <p:clrMapOvr>
    <a:masterClrMapping/>
  </p:clrMapOvr>
  <p:transition spd="slow">
    <p:cover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4EC2256-30FC-431A-BC22-FB3843F5587F}"/>
              </a:ext>
            </a:extLst>
          </p:cNvPr>
          <p:cNvSpPr/>
          <p:nvPr/>
        </p:nvSpPr>
        <p:spPr>
          <a:xfrm>
            <a:off x="1874873" y="657192"/>
            <a:ext cx="82390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Asistencia a los encuentros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…</a:t>
            </a:r>
          </a:p>
        </p:txBody>
      </p:sp>
      <p:pic>
        <p:nvPicPr>
          <p:cNvPr id="2050" name="Picture 2" descr="Employee Attendance Policy: What's Required to Reduce Absenteeism">
            <a:extLst>
              <a:ext uri="{FF2B5EF4-FFF2-40B4-BE49-F238E27FC236}">
                <a16:creationId xmlns:a16="http://schemas.microsoft.com/office/drawing/2014/main" id="{FA07C85D-E035-4210-955B-E1C9322958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3" r="19621"/>
          <a:stretch/>
        </p:blipFill>
        <p:spPr bwMode="auto">
          <a:xfrm>
            <a:off x="1405465" y="2599741"/>
            <a:ext cx="3352801" cy="274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44653" t="38395" r="9930" b="14445"/>
          <a:stretch/>
        </p:blipFill>
        <p:spPr>
          <a:xfrm>
            <a:off x="5105400" y="2356479"/>
            <a:ext cx="5537201" cy="3234268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5037666" y="2243667"/>
            <a:ext cx="5706533" cy="3412066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9833635"/>
      </p:ext>
    </p:extLst>
  </p:cSld>
  <p:clrMapOvr>
    <a:masterClrMapping/>
  </p:clrMapOvr>
  <p:transition spd="med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4EC2256-30FC-431A-BC22-FB3843F5587F}"/>
              </a:ext>
            </a:extLst>
          </p:cNvPr>
          <p:cNvSpPr/>
          <p:nvPr/>
        </p:nvSpPr>
        <p:spPr>
          <a:xfrm>
            <a:off x="110067" y="123791"/>
            <a:ext cx="113284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Toda actividad tiene </a:t>
            </a:r>
          </a:p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fecha de entrega…</a:t>
            </a:r>
          </a:p>
        </p:txBody>
      </p:sp>
      <p:pic>
        <p:nvPicPr>
          <p:cNvPr id="4098" name="Picture 2" descr="Phân biệt 'day' và 'date' - VnExpress">
            <a:extLst>
              <a:ext uri="{FF2B5EF4-FFF2-40B4-BE49-F238E27FC236}">
                <a16:creationId xmlns:a16="http://schemas.microsoft.com/office/drawing/2014/main" id="{A23C226D-3478-4DE4-AD30-6B6F47CAD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995" y="2297850"/>
            <a:ext cx="4459475" cy="267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44653" t="72922" r="9930" b="14445"/>
          <a:stretch/>
        </p:blipFill>
        <p:spPr>
          <a:xfrm>
            <a:off x="2887133" y="5604933"/>
            <a:ext cx="5537201" cy="866347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2717801" y="5393268"/>
            <a:ext cx="5833532" cy="1286300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165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4EC2256-30FC-431A-BC22-FB3843F5587F}"/>
              </a:ext>
            </a:extLst>
          </p:cNvPr>
          <p:cNvSpPr/>
          <p:nvPr/>
        </p:nvSpPr>
        <p:spPr>
          <a:xfrm>
            <a:off x="1540704" y="352391"/>
            <a:ext cx="86195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Todo encuentro genera nota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…</a:t>
            </a:r>
          </a:p>
        </p:txBody>
      </p:sp>
      <p:pic>
        <p:nvPicPr>
          <p:cNvPr id="3074" name="Picture 2" descr="vector illustration boy / student gets bad grade at his class vector de  Stock | Adobe Stock">
            <a:extLst>
              <a:ext uri="{FF2B5EF4-FFF2-40B4-BE49-F238E27FC236}">
                <a16:creationId xmlns:a16="http://schemas.microsoft.com/office/drawing/2014/main" id="{B448EA75-0041-42E2-9195-2DF81249A9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8" t="8649" r="25015"/>
          <a:stretch/>
        </p:blipFill>
        <p:spPr bwMode="auto">
          <a:xfrm>
            <a:off x="1764479" y="2152363"/>
            <a:ext cx="2279175" cy="364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l="42777" t="21975" r="8888" b="11481"/>
          <a:stretch/>
        </p:blipFill>
        <p:spPr>
          <a:xfrm>
            <a:off x="4936067" y="1676284"/>
            <a:ext cx="5579533" cy="4320932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4809067" y="1591734"/>
            <a:ext cx="5833532" cy="4405482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263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4EC2256-30FC-431A-BC22-FB3843F5587F}"/>
              </a:ext>
            </a:extLst>
          </p:cNvPr>
          <p:cNvSpPr/>
          <p:nvPr/>
        </p:nvSpPr>
        <p:spPr>
          <a:xfrm>
            <a:off x="2319905" y="496324"/>
            <a:ext cx="75014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Estrictamente prohibido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…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42778" t="37778" r="8889" b="16544"/>
          <a:stretch/>
        </p:blipFill>
        <p:spPr>
          <a:xfrm>
            <a:off x="4682067" y="2057093"/>
            <a:ext cx="6689129" cy="3556002"/>
          </a:xfrm>
          <a:prstGeom prst="rect">
            <a:avLst/>
          </a:prstGeom>
        </p:spPr>
      </p:pic>
      <p:pic>
        <p:nvPicPr>
          <p:cNvPr id="2052" name="Picture 4" descr="Free Vectors | Woman to be carefu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858" y="2069945"/>
            <a:ext cx="2471209" cy="353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4546600" y="1964266"/>
            <a:ext cx="6925732" cy="3711915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81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Noise and Vibration Meters - SVANTEK">
            <a:extLst>
              <a:ext uri="{FF2B5EF4-FFF2-40B4-BE49-F238E27FC236}">
                <a16:creationId xmlns:a16="http://schemas.microsoft.com/office/drawing/2014/main" id="{DA89D3F2-3F67-44D9-8392-3DE1AC6175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B4E77C-A5C2-4EB2-B0D4-2BF5BF7AE7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70" r="5457" b="10591"/>
          <a:stretch/>
        </p:blipFill>
        <p:spPr>
          <a:xfrm>
            <a:off x="0" y="-30052"/>
            <a:ext cx="12192000" cy="684983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0ED1CC9-0AD4-44EE-A231-1640A3877B6B}"/>
              </a:ext>
            </a:extLst>
          </p:cNvPr>
          <p:cNvSpPr/>
          <p:nvPr/>
        </p:nvSpPr>
        <p:spPr>
          <a:xfrm>
            <a:off x="515155" y="3018158"/>
            <a:ext cx="4971245" cy="376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MAXIMO DE 3 ESTUDIANTES CUANDO SEA GRUPAL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2713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4EC2256-30FC-431A-BC22-FB3843F5587F}"/>
              </a:ext>
            </a:extLst>
          </p:cNvPr>
          <p:cNvSpPr/>
          <p:nvPr/>
        </p:nvSpPr>
        <p:spPr>
          <a:xfrm>
            <a:off x="1930563" y="1571591"/>
            <a:ext cx="81276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Apruebo</a:t>
            </a:r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Habilito o pierdo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…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A7BAAF55-A6FC-4ED7-8B6E-6DB7CEBA1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925510"/>
              </p:ext>
            </p:extLst>
          </p:nvPr>
        </p:nvGraphicFramePr>
        <p:xfrm>
          <a:off x="2631074" y="2970428"/>
          <a:ext cx="6116594" cy="20726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229069">
                  <a:extLst>
                    <a:ext uri="{9D8B030D-6E8A-4147-A177-3AD203B41FA5}">
                      <a16:colId xmlns:a16="http://schemas.microsoft.com/office/drawing/2014/main" val="3905432151"/>
                    </a:ext>
                  </a:extLst>
                </a:gridCol>
                <a:gridCol w="2887525">
                  <a:extLst>
                    <a:ext uri="{9D8B030D-6E8A-4147-A177-3AD203B41FA5}">
                      <a16:colId xmlns:a16="http://schemas.microsoft.com/office/drawing/2014/main" val="114546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RANGO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VALORACIÓN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67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/>
                        <a:t>&gt;= 3,0 y &lt;= 5,0</a:t>
                      </a:r>
                      <a:endParaRPr lang="es-CO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/>
                        <a:t>APROBADO</a:t>
                      </a:r>
                      <a:endParaRPr lang="es-CO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728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1" dirty="0"/>
                        <a:t>&gt;= 2,0 y &lt; 3,0</a:t>
                      </a:r>
                      <a:endParaRPr lang="es-CO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s-ES" sz="2800" b="1" dirty="0"/>
                        <a:t>HABILITACION</a:t>
                      </a:r>
                      <a:endParaRPr lang="es-CO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83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1" dirty="0"/>
                        <a:t>&lt; 2,0</a:t>
                      </a:r>
                      <a:endParaRPr lang="es-CO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s-ES" sz="2800" b="1" dirty="0"/>
                        <a:t>NO APROBADO</a:t>
                      </a:r>
                      <a:endParaRPr lang="es-CO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553102"/>
                  </a:ext>
                </a:extLst>
              </a:tr>
            </a:tbl>
          </a:graphicData>
        </a:graphic>
      </p:graphicFrame>
      <p:sp>
        <p:nvSpPr>
          <p:cNvPr id="6" name="Rectángulo 5"/>
          <p:cNvSpPr/>
          <p:nvPr/>
        </p:nvSpPr>
        <p:spPr>
          <a:xfrm>
            <a:off x="2455333" y="2743200"/>
            <a:ext cx="6510867" cy="2421467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07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4EC2256-30FC-431A-BC22-FB3843F5587F}"/>
              </a:ext>
            </a:extLst>
          </p:cNvPr>
          <p:cNvSpPr/>
          <p:nvPr/>
        </p:nvSpPr>
        <p:spPr>
          <a:xfrm>
            <a:off x="4320764" y="1534385"/>
            <a:ext cx="29573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Avances…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A7BAAF55-A6FC-4ED7-8B6E-6DB7CEBA1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854853"/>
              </p:ext>
            </p:extLst>
          </p:nvPr>
        </p:nvGraphicFramePr>
        <p:xfrm>
          <a:off x="3358891" y="2822081"/>
          <a:ext cx="4881093" cy="20726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59266">
                  <a:extLst>
                    <a:ext uri="{9D8B030D-6E8A-4147-A177-3AD203B41FA5}">
                      <a16:colId xmlns:a16="http://schemas.microsoft.com/office/drawing/2014/main" val="3905432151"/>
                    </a:ext>
                  </a:extLst>
                </a:gridCol>
                <a:gridCol w="2221827">
                  <a:extLst>
                    <a:ext uri="{9D8B030D-6E8A-4147-A177-3AD203B41FA5}">
                      <a16:colId xmlns:a16="http://schemas.microsoft.com/office/drawing/2014/main" val="114546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AVANCE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PORCENTAJE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67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/>
                        <a:t>1ro Formativo</a:t>
                      </a:r>
                      <a:endParaRPr lang="es-CO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/>
                        <a:t>30%</a:t>
                      </a:r>
                      <a:endParaRPr lang="es-CO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728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/>
                        <a:t>2do Formativo</a:t>
                      </a:r>
                      <a:endParaRPr lang="es-CO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1" dirty="0"/>
                        <a:t>30%</a:t>
                      </a:r>
                      <a:endParaRPr lang="es-CO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83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/>
                        <a:t>3er Formativo</a:t>
                      </a:r>
                      <a:endParaRPr lang="es-CO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1" dirty="0"/>
                        <a:t>40%</a:t>
                      </a:r>
                      <a:endParaRPr lang="es-CO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553102"/>
                  </a:ext>
                </a:extLst>
              </a:tr>
            </a:tbl>
          </a:graphicData>
        </a:graphic>
      </p:graphicFrame>
      <p:sp>
        <p:nvSpPr>
          <p:cNvPr id="6" name="Rectángulo 5"/>
          <p:cNvSpPr/>
          <p:nvPr/>
        </p:nvSpPr>
        <p:spPr>
          <a:xfrm>
            <a:off x="3268133" y="2743200"/>
            <a:ext cx="5113867" cy="2294467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941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B3EDD54-09F9-5EF0-C535-76A8CADE9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881" y="2027271"/>
            <a:ext cx="10002646" cy="3467755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040474" y="1989668"/>
            <a:ext cx="10111054" cy="3565744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4EC2256-30FC-431A-BC22-FB3843F5587F}"/>
              </a:ext>
            </a:extLst>
          </p:cNvPr>
          <p:cNvSpPr/>
          <p:nvPr/>
        </p:nvSpPr>
        <p:spPr>
          <a:xfrm>
            <a:off x="2458841" y="684608"/>
            <a:ext cx="73909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Fechas para los Avances…</a:t>
            </a:r>
          </a:p>
        </p:txBody>
      </p:sp>
    </p:spTree>
    <p:extLst>
      <p:ext uri="{BB962C8B-B14F-4D97-AF65-F5344CB8AC3E}">
        <p14:creationId xmlns:p14="http://schemas.microsoft.com/office/powerpoint/2010/main" val="295662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t="3951" r="31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810000" y="4597400"/>
            <a:ext cx="2252133" cy="1579563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797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3827" r="4027" b="17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769533" y="1989667"/>
            <a:ext cx="2175934" cy="1998133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189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3827" r="4027" b="17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769533" y="4859867"/>
            <a:ext cx="4284134" cy="1998133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9358436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114</Words>
  <Application>Microsoft Office PowerPoint</Application>
  <PresentationFormat>Panorámica</PresentationFormat>
  <Paragraphs>42</Paragraphs>
  <Slides>60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 ALBERTO HERNANDEZ JIMENEZ</dc:creator>
  <cp:lastModifiedBy>JAIME ALBERTO HERNANDEZ JIMENEZ</cp:lastModifiedBy>
  <cp:revision>40</cp:revision>
  <dcterms:created xsi:type="dcterms:W3CDTF">2023-08-03T18:23:35Z</dcterms:created>
  <dcterms:modified xsi:type="dcterms:W3CDTF">2026-02-06T20:53:46Z</dcterms:modified>
</cp:coreProperties>
</file>